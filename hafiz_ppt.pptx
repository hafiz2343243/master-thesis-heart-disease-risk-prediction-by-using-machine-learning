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6" r:id="rId5"/>
    <p:sldId id="260" r:id="rId6"/>
    <p:sldId id="259" r:id="rId7"/>
    <p:sldId id="261" r:id="rId8"/>
    <p:sldId id="262" r:id="rId9"/>
    <p:sldId id="263" r:id="rId10"/>
    <p:sldId id="264" r:id="rId11"/>
    <p:sldId id="265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3DDA2-A420-CFA8-62A2-D7370F18CE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276630-526F-6561-E7BB-ABCDE6EBA6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0E0469-44A4-9F9B-62C1-86CA83829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FA1CA-7718-4DDC-8A9A-4E3362A156B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C3F502-531D-C690-B010-37BFBFC5A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35977-0B3F-C916-90C8-474D0D674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67C0-5F9E-43C9-B927-30CB478EF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7627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A1453-C6D0-CC44-0F77-5CF5EF287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30C38-0D46-6CD6-7C4E-99148753E9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C20382-EFF8-DFA0-CAFE-F835C59D46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FA1CA-7718-4DDC-8A9A-4E3362A156B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2163C-E9D4-51F5-46E9-CB7991DA5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04C8EF-D109-B2B0-9932-B96CDBEF03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67C0-5F9E-43C9-B927-30CB478EF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24761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D0C3A-08CD-26DB-0F52-A5CFE0B18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077751-2459-1AF7-BC66-B48F3E57B0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DEE1BF-C098-2D00-828D-2F13C05A6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FA1CA-7718-4DDC-8A9A-4E3362A156B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2E59E8-F8E8-EE03-0F0B-6D82BD104D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05A788-BB8A-76B5-03DF-3015FD424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67C0-5F9E-43C9-B927-30CB478EF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2973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5AA14-74CB-89B8-C331-6CEF68664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9B6EE6-F247-C959-1674-70731093E4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269788-1300-9BD5-35F8-D0D92B2B8B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420238-539B-9AE6-49F7-530ED2A30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FA1CA-7718-4DDC-8A9A-4E3362A156B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5F2DDC-063A-19AB-FDC1-B39B1F48B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581EF8-A9C1-D396-11F0-CD303C8C33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67C0-5F9E-43C9-B927-30CB478EF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61800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1B2A2-8608-31CF-6408-05028216F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8A909D-FCC6-E642-056A-F42A281079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D49939-59B4-4719-2D97-018F73963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D6E322-08CF-C8A1-6F4E-BA1A28096C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2FAF5D-AE45-6B41-3DFF-0D7B22DAAE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633BC1-AFD7-BA83-80AF-084986F6F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FA1CA-7718-4DDC-8A9A-4E3362A156B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32FFC1D-C2ED-D88C-32B4-9E467D17A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08CBFA1-521D-BD88-9EFE-B124190B3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67C0-5F9E-43C9-B927-30CB478EF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829884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50C47-D0D6-F6E8-E53F-AE92F58456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20D094-242D-7CC3-DAA6-126885AE7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FA1CA-7718-4DDC-8A9A-4E3362A156B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7FC634-3AF3-1880-C6EA-806F9B7D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5E1D52-6F8C-60C0-9618-84790B1246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67C0-5F9E-43C9-B927-30CB478EF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2191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B493026-DB4A-64DD-8E5E-5C147CFAD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FA1CA-7718-4DDC-8A9A-4E3362A156B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37D1CF9-AC65-8D1D-3742-0C7A77314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50A44A-1C3D-3BAA-D1BD-722304745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67C0-5F9E-43C9-B927-30CB478EF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30840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59E182-893F-5082-A2F6-9BC900EB1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07DD9-A446-86E2-735C-315A159D72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A06327-3766-E539-319E-07D59BB775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051BB9-D509-34AC-BC16-8C07B0C77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FA1CA-7718-4DDC-8A9A-4E3362A156B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E734D5-C978-2B73-0EDB-428E6CF1C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F03850-DED5-90CE-711F-B21FF209D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67C0-5F9E-43C9-B927-30CB478EF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61938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552A3-B76E-FEE1-A52A-B03B13627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4CCCFA-D7E3-D911-2C36-DB2B2DF3F8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B1F39A-A7CA-E5A3-D06D-85E6553FCA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911DAB-F1FE-8964-1D60-05F70C697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FA1CA-7718-4DDC-8A9A-4E3362A156B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B2E2DC-FD0F-361C-72F3-B713E1E67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E8F21-55FB-B037-0F2D-CF237443B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67C0-5F9E-43C9-B927-30CB478EF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4797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0CB13-6B18-23DD-88EE-90A7169B7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CEB345-A7E5-0EF0-E9B6-23A7C0D9E3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AD319C-5926-9A23-03B7-E5C32D99F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FA1CA-7718-4DDC-8A9A-4E3362A156B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2FBB8B-8D29-96E1-5DA1-47A2B30D75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5B1777-1528-12C5-7438-BCAEA4F0B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67C0-5F9E-43C9-B927-30CB478EF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8107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C0389C-7371-4A52-369B-44067A09E3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64721A-C941-BC34-718A-06C2C3CAA1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3F517D-4818-1132-A10D-B4F2371F2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4FA1CA-7718-4DDC-8A9A-4E3362A156B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B4B772-4E22-03AF-360D-18780F148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66C0C-4C72-1757-5FB0-9EC09BD17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B67C0-5F9E-43C9-B927-30CB478EF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128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7722F03-3D7B-4FD8-D236-D416040E2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037166-BEF8-D9AD-B319-7A82001B1B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5234E-6988-C72A-D28A-168DAF194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4FA1CA-7718-4DDC-8A9A-4E3362A156B4}" type="datetimeFigureOut">
              <a:rPr lang="en-GB" smtClean="0"/>
              <a:t>10/06/2026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3B87C-AE0D-2D48-5B50-BDA9FBC29D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C46A23-2595-E1C3-9A68-8085581B3A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4B67C0-5F9E-43C9-B927-30CB478EF5B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2458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ieeexplore.ieee.org/stamp/stamp.jsp?tp=&amp;arnumber=11203752&amp;isnumber=11203297" TargetMode="External"/><Relationship Id="rId2" Type="http://schemas.openxmlformats.org/officeDocument/2006/relationships/hyperlink" Target="https://ieeexplore.ieee.org/stamp/stamp.jsp?tp=&amp;arnumber=10270436&amp;isnumber=10269805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4E1BEB12-92AF-4445-98AD-4C7756E7C9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9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769476" y="220196"/>
            <a:ext cx="9422524" cy="6637806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09800" y="2099696"/>
            <a:ext cx="1942241" cy="1889551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3" name="Arc 52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613162" y="1492572"/>
            <a:ext cx="2987899" cy="2987899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E5A7E7-5E76-A1AD-792B-7B437F2237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038600" y="1939159"/>
            <a:ext cx="7644627" cy="2751086"/>
          </a:xfrm>
        </p:spPr>
        <p:txBody>
          <a:bodyPr>
            <a:normAutofit/>
          </a:bodyPr>
          <a:lstStyle/>
          <a:p>
            <a:pPr algn="r"/>
            <a:r>
              <a:rPr lang="en-GB"/>
              <a:t>Title: Heart Disease Risk Prediction Using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1B28D9-DDE4-C7DE-73A2-63FFA58886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038600" y="4782320"/>
            <a:ext cx="7644627" cy="1329443"/>
          </a:xfrm>
        </p:spPr>
        <p:txBody>
          <a:bodyPr>
            <a:normAutofit fontScale="92500" lnSpcReduction="20000"/>
          </a:bodyPr>
          <a:lstStyle/>
          <a:p>
            <a:pPr algn="r"/>
            <a:r>
              <a:rPr lang="en-GB" sz="2200" dirty="0"/>
              <a:t>Name: Hafiz Abdul Razzaq</a:t>
            </a:r>
          </a:p>
          <a:p>
            <a:pPr algn="r"/>
            <a:r>
              <a:rPr lang="en-GB" sz="2200" dirty="0"/>
              <a:t>Student Id: 23086394</a:t>
            </a:r>
          </a:p>
          <a:p>
            <a:pPr algn="r"/>
            <a:r>
              <a:rPr lang="en-GB" sz="2200"/>
              <a:t>Gith Hub </a:t>
            </a:r>
            <a:r>
              <a:rPr lang="en-GB" sz="2200" dirty="0"/>
              <a:t>Link: https://github.com/hafiz2343243/Master-Thesis-Heart-Disease-Risk-Prediction-By-using-Machine-learning.git</a:t>
            </a:r>
          </a:p>
        </p:txBody>
      </p:sp>
    </p:spTree>
    <p:extLst>
      <p:ext uri="{BB962C8B-B14F-4D97-AF65-F5344CB8AC3E}">
        <p14:creationId xmlns:p14="http://schemas.microsoft.com/office/powerpoint/2010/main" val="1301359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7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36C0C3-A5D6-A701-4369-4637499D1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2764289" cy="4461163"/>
          </a:xfrm>
        </p:spPr>
        <p:txBody>
          <a:bodyPr>
            <a:normAutofit/>
          </a:bodyPr>
          <a:lstStyle/>
          <a:p>
            <a:r>
              <a:rPr lang="en-GB" dirty="0"/>
              <a:t>Project Overview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63E088F5-BB00-9E3F-6C47-F21C63759A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280598" y="319088"/>
            <a:ext cx="7073201" cy="58578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initiative forecasts the risk of heart disease via clinical patient data.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information includes health attributes such as age, blood pressure, cholesterol levels, kind of chest discomfort, maximal heart rate, and exercise-induced angina.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Patients are categorized into two groups: Low Risk and High Risk.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Three machine learning models are evaluated: Decision Tree, Support Vector Machine (SVM), and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evaluation of model performance is conducted using accuracy, F1-score, confusion matrix, and ROC-AUC.</a:t>
            </a: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primary objective is to ascertain the most effective model for predicting heart disease risk.</a:t>
            </a:r>
          </a:p>
        </p:txBody>
      </p:sp>
    </p:spTree>
    <p:extLst>
      <p:ext uri="{BB962C8B-B14F-4D97-AF65-F5344CB8AC3E}">
        <p14:creationId xmlns:p14="http://schemas.microsoft.com/office/powerpoint/2010/main" val="26838959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507F6C-D142-D9B1-1221-4C5B5A52A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Research Question and Objectives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AB3D06-FBB0-3F2F-BB79-45259BF89C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Research Question:</a:t>
            </a:r>
            <a:b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GB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How accurately can machine learning models predict heart disease risk using clinical health features?</a:t>
            </a:r>
            <a:b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5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Objectives:</a:t>
            </a:r>
            <a:b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GB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Clean and prepare the heart disease dataset.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b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Classify the original risk score into Low Risk and High Risk categories.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b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Conduct fundamental exploratory data analysis to comprehend patterns in patient characteristics.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b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Train and evaluate Decision Tree, Support Vector Machine, and </a:t>
            </a:r>
            <a:r>
              <a:rPr kumimoji="0" lang="en-US" altLang="en-US" sz="15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models.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b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Enhance model efficacy by the application of </a:t>
            </a:r>
            <a:r>
              <a:rPr kumimoji="0" lang="en-US" altLang="en-US" sz="15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RandomizedSearchCV</a:t>
            </a: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Assess models utilizing Accuracy, F1-score, Confusion Matrix, and ROC-AUC.</a:t>
            </a:r>
          </a:p>
        </p:txBody>
      </p:sp>
    </p:spTree>
    <p:extLst>
      <p:ext uri="{BB962C8B-B14F-4D97-AF65-F5344CB8AC3E}">
        <p14:creationId xmlns:p14="http://schemas.microsoft.com/office/powerpoint/2010/main" val="7078257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9253EEF-ECFA-62F6-6D3F-937553F53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GB" b="1">
                <a:solidFill>
                  <a:srgbClr val="FFFFFF"/>
                </a:solidFill>
              </a:rPr>
              <a:t>Literature Review</a:t>
            </a:r>
            <a:br>
              <a:rPr lang="en-GB" b="1">
                <a:solidFill>
                  <a:srgbClr val="FFFFFF"/>
                </a:solidFill>
              </a:rPr>
            </a:br>
            <a:endParaRPr lang="en-GB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B7DBF-F068-A914-8B0A-9BBABFAD41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GB" sz="2600" dirty="0"/>
              <a:t>Prior research indicates that machine learning is effective at predicting cardiac disease.</a:t>
            </a:r>
          </a:p>
          <a:p>
            <a:r>
              <a:rPr lang="en-GB" sz="2600" dirty="0"/>
              <a:t>Rachapalli et al. employed Random Forest, </a:t>
            </a:r>
            <a:r>
              <a:rPr lang="en-GB" sz="2600" dirty="0" err="1"/>
              <a:t>XGBoost</a:t>
            </a:r>
            <a:r>
              <a:rPr lang="en-GB" sz="2600" dirty="0"/>
              <a:t>, SVM, and MLP, concluding that </a:t>
            </a:r>
            <a:r>
              <a:rPr lang="en-GB" sz="2600" dirty="0" err="1"/>
              <a:t>XGBoost</a:t>
            </a:r>
            <a:r>
              <a:rPr lang="en-GB" sz="2600" dirty="0"/>
              <a:t> exhibited superior performance following data augmentation.</a:t>
            </a:r>
          </a:p>
          <a:p>
            <a:r>
              <a:rPr lang="en-GB" sz="2600" dirty="0"/>
              <a:t>Anurag et al. employed an optimized ensemble model, with 96% </a:t>
            </a:r>
            <a:r>
              <a:rPr lang="en-GB" sz="2600" dirty="0" err="1"/>
              <a:t>accuracy.These</a:t>
            </a:r>
            <a:r>
              <a:rPr lang="en-GB" sz="2600" dirty="0"/>
              <a:t> studies endorse the project's utilization of Decision Tree, SVM, </a:t>
            </a:r>
            <a:r>
              <a:rPr lang="en-GB" sz="2600" dirty="0" err="1"/>
              <a:t>XGBoost</a:t>
            </a:r>
            <a:r>
              <a:rPr lang="en-GB" sz="2600" dirty="0"/>
              <a:t>, and ROC-AUC for evaluation purposes.</a:t>
            </a:r>
          </a:p>
        </p:txBody>
      </p:sp>
    </p:spTree>
    <p:extLst>
      <p:ext uri="{BB962C8B-B14F-4D97-AF65-F5344CB8AC3E}">
        <p14:creationId xmlns:p14="http://schemas.microsoft.com/office/powerpoint/2010/main" val="2113426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61C97E-8223-9529-F17A-1AB3B283F0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sz="4100">
                <a:solidFill>
                  <a:srgbClr val="FFFFFF"/>
                </a:solidFill>
              </a:rPr>
              <a:t>Data Preprocessing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5CD34B-0C53-6A37-5C48-DCD69C4DD8B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Column names were standardized for consistency and enhanced use in Python.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en-GB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dataset was examined for absent values, and none were identified.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kumimoji="0" lang="en-GB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dataset contained 55 duplicate rows, which were eliminated before to </a:t>
            </a:r>
            <a:r>
              <a:rPr kumimoji="0" lang="en-GB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modeling.Subsequent</a:t>
            </a:r>
            <a:r>
              <a:rPr kumimoji="0" lang="en-GB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to the elimination of duplicates, the dataset comprised 970 rows and 14 columns.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GB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initial decimal target column was transformed into a binary </a:t>
            </a:r>
            <a:r>
              <a:rPr kumimoji="0" lang="en-GB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classification.Patients</a:t>
            </a:r>
            <a:r>
              <a:rPr kumimoji="0" lang="en-GB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with a goal of 0.5 or above were classified as High Risk.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GB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Patients having a goal less than 0.5 were classified as Low Risk.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GB" altLang="en-US" sz="1800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GB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ultimate target column employed for prediction was </a:t>
            </a:r>
            <a:r>
              <a:rPr kumimoji="0" lang="en-GB" altLang="en-US" sz="18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target_class</a:t>
            </a:r>
            <a:r>
              <a:rPr kumimoji="0" lang="en-GB" altLang="en-US" sz="18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86496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824179-8C91-FDA9-94F1-FEE710FBB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Dataset Description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07139AA-4E75-3CA1-0104-2ADB0ED1216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15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Summary of the Dataset</a:t>
            </a: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dataset comprises clinical information pertaining to the risk of heart disease in patients.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original dataset had 1025 rows and 14 columns.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dataset has attributes including age, sex, kind of chest pain, blood pressure, cholesterol levels, fasting blood sugar, maximum heart rate, exercise-induced angina, </a:t>
            </a:r>
            <a:r>
              <a:rPr kumimoji="0" lang="en-US" altLang="en-US" sz="15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oldpeak</a:t>
            </a: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slope, calcium, and thalassemia status.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initial goal column comprised decimal risk values ranging from 0.1 to 0.9.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This project reclassified the initial objective into two categories: Low Risk and High Risk.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15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dataset was appropriate for a classification challenge as it comprises clinical variables that can indicate the risk of heart disease.</a:t>
            </a:r>
          </a:p>
        </p:txBody>
      </p:sp>
    </p:spTree>
    <p:extLst>
      <p:ext uri="{BB962C8B-B14F-4D97-AF65-F5344CB8AC3E}">
        <p14:creationId xmlns:p14="http://schemas.microsoft.com/office/powerpoint/2010/main" val="34384936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07B201-0459-CC7A-C9E3-4F72F0189C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US" altLang="en-US" dirty="0">
                <a:latin typeface="Arial" panose="020B0604020202020204" pitchFamily="34" charset="0"/>
              </a:rPr>
              <a:t>Exploratory Data Analysis (EDA)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124320C-E21D-6901-E723-3CCBC558DA4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Exploratory Data Analysis (EDA) was used to comprehend patient patterns prior to modeling.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age distribution indicated that the majority of patients were aged between 50 and 65 years.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age comparison graph revealed a disparity between the Low Risk and High Risk groups.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correlation heatmap indicated that variables including chest pain type, maximum heart rate, exercise-induced angina,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oldpeak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slope, ca, and </a:t>
            </a:r>
            <a:r>
              <a:rPr kumimoji="0" lang="en-US" altLang="en-US" sz="22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thal</a:t>
            </a: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were associated with heart disease risk.</a:t>
            </a:r>
            <a:b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Exploratory Data Analysis facilitated the identification of significant clinical trends and aided in the model selection process.</a:t>
            </a:r>
          </a:p>
        </p:txBody>
      </p:sp>
    </p:spTree>
    <p:extLst>
      <p:ext uri="{BB962C8B-B14F-4D97-AF65-F5344CB8AC3E}">
        <p14:creationId xmlns:p14="http://schemas.microsoft.com/office/powerpoint/2010/main" val="33608686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B28D5-485A-4274-AA7A-9F4A8C539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20" y="365126"/>
            <a:ext cx="10559980" cy="1142128"/>
          </a:xfrm>
        </p:spPr>
        <p:txBody>
          <a:bodyPr/>
          <a:lstStyle/>
          <a:p>
            <a:r>
              <a:rPr lang="en-GB" dirty="0"/>
              <a:t>EDA PLOTS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BC020A18-D88D-8117-25D7-4259A666DF9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8004" y="1936157"/>
            <a:ext cx="3810802" cy="3530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>
            <a:extLst>
              <a:ext uri="{FF2B5EF4-FFF2-40B4-BE49-F238E27FC236}">
                <a16:creationId xmlns:a16="http://schemas.microsoft.com/office/drawing/2014/main" id="{842CE442-CF2A-627D-BCDE-F6D814BFA9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769" y="1976352"/>
            <a:ext cx="4093343" cy="34497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>
            <a:extLst>
              <a:ext uri="{FF2B5EF4-FFF2-40B4-BE49-F238E27FC236}">
                <a16:creationId xmlns:a16="http://schemas.microsoft.com/office/drawing/2014/main" id="{10296FF6-7F86-2ABC-B694-F720B52FB3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8377" y="1936157"/>
            <a:ext cx="2984361" cy="3714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1697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F0A556D-7B77-1AB2-0664-A8B646708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GB" dirty="0"/>
              <a:t>Methodology</a:t>
            </a:r>
            <a:endParaRPr lang="en-GB" dirty="0">
              <a:solidFill>
                <a:srgbClr val="FFFFFF"/>
              </a:solidFill>
            </a:endParaRP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06A715-E249-9FDF-211D-74555FC569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fontScale="85000" lnSpcReduction="2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dataset was imported and examined for structure, absent values, and redundancies.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Fundamental preparation was conducted by sanitizing column names and eliminating duplicate entries.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initial decimal risk score was transformed into a binary target variable designated as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target_class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Exploratory data analysis was conducted utilizing class distribution, age distribution, age comparison, and a correlation heatmap.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dataset was divided into training and testing sets using an 80:20 ratio.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StandardScaler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was utilized to normalize the feature values prior to model training.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Three models were developed: Decision Tree, Support Vector Machine (SVM), and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The model's performance was assessed by Accuracy, F1-score, Confusion Matrix, and ROC-AUC.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b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Hyperparameter optimization was conducted with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RandomizedSearchCV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6380413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B628AE-1D13-B0EB-FC82-E6332C8D9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Model Training and Initial Results</a:t>
            </a:r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F7AD794-6071-F01D-92C8-F099EF124A9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Three models were developed with the normalized training data.</a:t>
            </a:r>
            <a:b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employed models were Decision Tree, Support Vector Machine (SVM), and </a:t>
            </a:r>
            <a:r>
              <a:rPr kumimoji="0" lang="en-US" altLang="en-US" sz="22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Decision Tree attained an accuracy of 83.51% and an AUC of 0.9321.</a:t>
            </a:r>
            <a:b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SVM attained an accuracy of 94.33% and an AUC of 0.9860.</a:t>
            </a:r>
            <a:b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attained the highest preliminary outcome with 96.91% accuracy and 0.9957 AUC.</a:t>
            </a:r>
            <a:b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Prior to optimization, </a:t>
            </a:r>
            <a:r>
              <a:rPr kumimoji="0" lang="en-US" altLang="en-US" sz="22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22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outperformed both Decision Tree and SVM.</a:t>
            </a:r>
          </a:p>
        </p:txBody>
      </p:sp>
    </p:spTree>
    <p:extLst>
      <p:ext uri="{BB962C8B-B14F-4D97-AF65-F5344CB8AC3E}">
        <p14:creationId xmlns:p14="http://schemas.microsoft.com/office/powerpoint/2010/main" val="4152127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0F2515-0690-60CA-617B-BD7E7AF4D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GB">
                <a:solidFill>
                  <a:srgbClr val="FFFFFF"/>
                </a:solidFill>
              </a:rPr>
              <a:t>Analysis of Initial Results</a:t>
            </a:r>
          </a:p>
        </p:txBody>
      </p:sp>
      <p:sp>
        <p:nvSpPr>
          <p:cNvPr id="43" name="Arc 4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CA0001-CD01-5221-C77E-32CCE0C770E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exhibited the highest initial performance, achieving 96.91% accuracy and an AUC of 0.9957.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SVM achieved an accuracy of 94.33% and an AUC of 0.9860.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Decision Tree exhibited the least performance, achieving an accuracy of 83.51% and an AUC of 0.9321.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ROC-AUC results indicate that all three models efficiently distinguish between Low Risk and High Risk patients.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 err="1">
                <a:ln>
                  <a:noFill/>
                </a:ln>
                <a:effectLst/>
                <a:latin typeface="Arial" panose="020B0604020202020204" pitchFamily="34" charset="0"/>
              </a:rPr>
              <a:t>XGBoost</a:t>
            </a: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excelled due to its integration of numerous decision trees, enabling it to discern complex patterns with more efficacy.</a:t>
            </a:r>
            <a:b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b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</a:br>
            <a:r>
              <a:rPr kumimoji="0" lang="en-US" altLang="en-US" sz="20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The preliminary findings indicated that model optimization was necessary to enhance performance further.</a:t>
            </a:r>
          </a:p>
        </p:txBody>
      </p:sp>
    </p:spTree>
    <p:extLst>
      <p:ext uri="{BB962C8B-B14F-4D97-AF65-F5344CB8AC3E}">
        <p14:creationId xmlns:p14="http://schemas.microsoft.com/office/powerpoint/2010/main" val="10278911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6BC0A-326C-F69A-141F-5864C581F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87290A-5037-BBC6-B7E5-5C96CE595B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GB" dirty="0"/>
              <a:t>Anurag, S. </a:t>
            </a:r>
            <a:r>
              <a:rPr lang="en-GB" dirty="0" err="1"/>
              <a:t>Kalta</a:t>
            </a:r>
            <a:r>
              <a:rPr lang="en-GB" dirty="0"/>
              <a:t>, J. Thakur, H. Bhardwaj and Y. </a:t>
            </a:r>
            <a:r>
              <a:rPr lang="en-GB" dirty="0" err="1"/>
              <a:t>Banyal</a:t>
            </a:r>
            <a:r>
              <a:rPr lang="en-GB" dirty="0"/>
              <a:t>, "Optimized Ensemble model for Heart Disease Prediction using Machine Learning," </a:t>
            </a:r>
            <a:r>
              <a:rPr lang="en-GB" i="1" dirty="0"/>
              <a:t>2023 3rd Asian Conference on Innovation in Technology (ASIANCON)</a:t>
            </a:r>
            <a:r>
              <a:rPr lang="en-GB" dirty="0"/>
              <a:t>, Ravet IN, India, 2023, pp. 1-5, </a:t>
            </a:r>
            <a:r>
              <a:rPr lang="en-GB" dirty="0" err="1"/>
              <a:t>doi</a:t>
            </a:r>
            <a:r>
              <a:rPr lang="en-GB" dirty="0"/>
              <a:t>: 10.1109/ASIANCON58793.2023.10270436.</a:t>
            </a:r>
          </a:p>
          <a:p>
            <a:pPr marL="0" indent="0">
              <a:buNone/>
            </a:pPr>
            <a:r>
              <a:rPr lang="en-GB" dirty="0"/>
              <a:t>    URL: </a:t>
            </a:r>
            <a:r>
              <a:rPr lang="en-GB" u="sng" dirty="0">
                <a:hlinkClick r:id="rId2"/>
              </a:rPr>
              <a:t>https://ieeexplore.ieee.org/stamp/stamp.jsp?tp=&amp;arnumber=10270436&amp;isnumber=10269805</a:t>
            </a:r>
            <a:endParaRPr lang="en-GB" dirty="0"/>
          </a:p>
          <a:p>
            <a:pPr marL="0" indent="0">
              <a:buNone/>
            </a:pPr>
            <a:endParaRPr lang="en-GB" dirty="0"/>
          </a:p>
          <a:p>
            <a:r>
              <a:rPr lang="en-GB" dirty="0"/>
              <a:t>V. K. Rachapalli, C. </a:t>
            </a:r>
            <a:r>
              <a:rPr lang="en-GB" dirty="0" err="1"/>
              <a:t>Meenavalli</a:t>
            </a:r>
            <a:r>
              <a:rPr lang="en-GB" dirty="0"/>
              <a:t>, S. P. Nunna, P. </a:t>
            </a:r>
            <a:r>
              <a:rPr lang="en-GB" dirty="0" err="1"/>
              <a:t>Yarramaneni</a:t>
            </a:r>
            <a:r>
              <a:rPr lang="en-GB" dirty="0"/>
              <a:t>, S. K. Mishra and S. K. Mishra, "Enhancing Heart Disease Prediction with Data Augmentation and ML Classifiers," </a:t>
            </a:r>
            <a:r>
              <a:rPr lang="en-GB" i="1" dirty="0"/>
              <a:t>2025 International Conference on Artificial Intelligence and Machine Vision (AIMV)</a:t>
            </a:r>
            <a:r>
              <a:rPr lang="en-GB" dirty="0"/>
              <a:t>, Gandhinagar, India, 2025, pp. 1-6, </a:t>
            </a:r>
            <a:r>
              <a:rPr lang="en-GB" dirty="0" err="1"/>
              <a:t>doi</a:t>
            </a:r>
            <a:r>
              <a:rPr lang="en-GB" dirty="0"/>
              <a:t>: 10.1109/AIMV66517.2025.11203752.</a:t>
            </a:r>
          </a:p>
          <a:p>
            <a:r>
              <a:rPr lang="en-GB" dirty="0"/>
              <a:t>URL: </a:t>
            </a:r>
            <a:r>
              <a:rPr lang="en-GB" u="sng" dirty="0">
                <a:hlinkClick r:id="rId3"/>
              </a:rPr>
              <a:t>https://ieeexplore.ieee.org/stamp/stamp.jsp?tp=&amp;arnumber=11203752&amp;isnumber=11203297</a:t>
            </a:r>
            <a:endParaRPr lang="en-GB" dirty="0"/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709164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1222</Words>
  <Application>Microsoft Office PowerPoint</Application>
  <PresentationFormat>Widescreen</PresentationFormat>
  <Paragraphs>61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Office Theme</vt:lpstr>
      <vt:lpstr>Title: Heart Disease Risk Prediction Using Machine Learning</vt:lpstr>
      <vt:lpstr>Project Overview</vt:lpstr>
      <vt:lpstr>Research Question and Objectives</vt:lpstr>
      <vt:lpstr>Literature Review </vt:lpstr>
      <vt:lpstr>Data Preprocessing</vt:lpstr>
      <vt:lpstr>Dataset Description</vt:lpstr>
      <vt:lpstr>Exploratory Data Analysis (EDA)</vt:lpstr>
      <vt:lpstr>EDA PLOTS</vt:lpstr>
      <vt:lpstr>Methodology</vt:lpstr>
      <vt:lpstr>Model Training and Initial Results</vt:lpstr>
      <vt:lpstr>Analysis of Initial Results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hafiz</dc:creator>
  <cp:lastModifiedBy>Muhammad Usman Javed [Student-PECS]</cp:lastModifiedBy>
  <cp:revision>4</cp:revision>
  <dcterms:created xsi:type="dcterms:W3CDTF">2026-06-08T11:53:10Z</dcterms:created>
  <dcterms:modified xsi:type="dcterms:W3CDTF">2026-06-10T06:59:54Z</dcterms:modified>
</cp:coreProperties>
</file>